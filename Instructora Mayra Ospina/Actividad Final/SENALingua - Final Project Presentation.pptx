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2"/>
  </p:notesMasterIdLst>
  <p:handoutMasterIdLst>
    <p:handoutMasterId r:id="rId13"/>
  </p:handoutMasterIdLst>
  <p:sldIdLst>
    <p:sldId id="544" r:id="rId2"/>
    <p:sldId id="537" r:id="rId3"/>
    <p:sldId id="548" r:id="rId4"/>
    <p:sldId id="549" r:id="rId5"/>
    <p:sldId id="550" r:id="rId6"/>
    <p:sldId id="551" r:id="rId7"/>
    <p:sldId id="552" r:id="rId8"/>
    <p:sldId id="553" r:id="rId9"/>
    <p:sldId id="555" r:id="rId10"/>
    <p:sldId id="55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94" autoAdjust="0"/>
    <p:restoredTop sz="97242"/>
  </p:normalViewPr>
  <p:slideViewPr>
    <p:cSldViewPr snapToGrid="0">
      <p:cViewPr varScale="1">
        <p:scale>
          <a:sx n="113" d="100"/>
          <a:sy n="113" d="100"/>
        </p:scale>
        <p:origin x="348" y="114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15/09/2026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bin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bin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963672" y="255183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latin typeface="Work Sans Bold Roman" pitchFamily="2" charset="77"/>
              </a:rPr>
              <a:t>SENALingua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D5AB152-7D2B-D076-6066-DE3921A2358A}"/>
              </a:ext>
            </a:extLst>
          </p:cNvPr>
          <p:cNvSpPr txBox="1"/>
          <p:nvPr/>
        </p:nvSpPr>
        <p:spPr>
          <a:xfrm>
            <a:off x="7494759" y="3751350"/>
            <a:ext cx="317436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Erik Santiago Alegría Rojas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Karen Vanessa Castañeda Morán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Cristian David Yalanda Pillimue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Emmanuel Bonilla Salazar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Andrés Felipe Montano Bernal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solidFill>
                  <a:schemeClr val="accent5"/>
                </a:solidFill>
              </a:rPr>
              <a:t>Karen Niheidy Pastás Valencia</a:t>
            </a: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95325" y="1771386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PROJECT OVERVIEW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95325" y="2565167"/>
            <a:ext cx="3854368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Target Audience:</a:t>
            </a:r>
            <a:r>
              <a:rPr lang="es-CO" sz="1600" dirty="0">
                <a:solidFill>
                  <a:schemeClr val="accent5"/>
                </a:solidFill>
              </a:rPr>
              <a:t> Specialized for SENA software development trainees.</a:t>
            </a:r>
          </a:p>
          <a:p>
            <a:pPr lvl="0"/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Core mission:</a:t>
            </a:r>
            <a:r>
              <a:rPr lang="es-CO" sz="1600" dirty="0">
                <a:solidFill>
                  <a:schemeClr val="accent5"/>
                </a:solidFill>
              </a:rPr>
              <a:t> Drives transition from technical language barriers to industry-ready proficiency.</a:t>
            </a:r>
          </a:p>
          <a:p>
            <a:pPr lvl="0"/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Platform architecture:</a:t>
            </a:r>
            <a:r>
              <a:rPr lang="es-CO" sz="1600" dirty="0">
                <a:solidFill>
                  <a:schemeClr val="accent5"/>
                </a:solidFill>
              </a:rPr>
              <a:t> Integrates adaptive learning paths, real-time skill practice, and instructor performance metrics.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9E5FFC-B58C-F7BF-DDDF-0AA5E19E9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1291" r="10102" b="8330"/>
          <a:stretch>
            <a:fillRect/>
          </a:stretch>
        </p:blipFill>
        <p:spPr>
          <a:xfrm>
            <a:off x="5078237" y="0"/>
            <a:ext cx="7113763" cy="705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0255F-65BC-1BD2-EB85-19265FD9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F52B4-034B-CF16-ADB2-1219A741FF4E}"/>
              </a:ext>
            </a:extLst>
          </p:cNvPr>
          <p:cNvSpPr txBox="1">
            <a:spLocks/>
          </p:cNvSpPr>
          <p:nvPr/>
        </p:nvSpPr>
        <p:spPr>
          <a:xfrm>
            <a:off x="695325" y="1688259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ORIGIN OF THE IDEA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447C92-4559-C934-6520-AB21339F9621}"/>
              </a:ext>
            </a:extLst>
          </p:cNvPr>
          <p:cNvSpPr txBox="1"/>
          <p:nvPr/>
        </p:nvSpPr>
        <p:spPr>
          <a:xfrm>
            <a:off x="695325" y="2888195"/>
            <a:ext cx="3854368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We identified a significant lack of student engagement and technical language proficiency.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Existing market applications offered repetitive exercises.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Consequently, we designed a tailored educational solution to address these specific gaps.</a:t>
            </a:r>
          </a:p>
        </p:txBody>
      </p:sp>
      <p:pic>
        <p:nvPicPr>
          <p:cNvPr id="6" name="Picture 2" descr="Duolingo English Test Is Easy Than Ielts - Free Printable">
            <a:extLst>
              <a:ext uri="{FF2B5EF4-FFF2-40B4-BE49-F238E27FC236}">
                <a16:creationId xmlns:a16="http://schemas.microsoft.com/office/drawing/2014/main" id="{53357AE4-3E59-CE62-A5B1-165A43B3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208" y="1245666"/>
            <a:ext cx="6593467" cy="436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65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88B15-E589-AB6F-B712-CB87DFE1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233B-A1B8-2A95-5089-2A66BECEE8B7}"/>
              </a:ext>
            </a:extLst>
          </p:cNvPr>
          <p:cNvSpPr txBox="1">
            <a:spLocks/>
          </p:cNvSpPr>
          <p:nvPr/>
        </p:nvSpPr>
        <p:spPr>
          <a:xfrm>
            <a:off x="695325" y="1743677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PROJECT RELEVANCE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B90028-EFD5-FE86-32F0-A5348DDB0A39}"/>
              </a:ext>
            </a:extLst>
          </p:cNvPr>
          <p:cNvSpPr txBox="1"/>
          <p:nvPr/>
        </p:nvSpPr>
        <p:spPr>
          <a:xfrm>
            <a:off x="695325" y="2966948"/>
            <a:ext cx="3854368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It offers </a:t>
            </a:r>
            <a:r>
              <a:rPr lang="es-CO" sz="1600" b="1" dirty="0">
                <a:solidFill>
                  <a:schemeClr val="accent5"/>
                </a:solidFill>
              </a:rPr>
              <a:t>the most specialized</a:t>
            </a:r>
            <a:r>
              <a:rPr lang="es-CO" sz="1600" dirty="0">
                <a:solidFill>
                  <a:schemeClr val="accent5"/>
                </a:solidFill>
              </a:rPr>
              <a:t> content for software development trainees.</a:t>
            </a:r>
          </a:p>
          <a:p>
            <a:pPr lvl="0"/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Students </a:t>
            </a:r>
            <a:r>
              <a:rPr lang="es-CO" sz="1600" b="1" dirty="0">
                <a:solidFill>
                  <a:schemeClr val="accent5"/>
                </a:solidFill>
              </a:rPr>
              <a:t>can access</a:t>
            </a:r>
            <a:r>
              <a:rPr lang="es-CO" sz="1600" dirty="0">
                <a:solidFill>
                  <a:schemeClr val="accent5"/>
                </a:solidFill>
              </a:rPr>
              <a:t> learning modules from any device, making technical training </a:t>
            </a:r>
            <a:r>
              <a:rPr lang="es-CO" sz="1600" b="1" dirty="0">
                <a:solidFill>
                  <a:schemeClr val="accent5"/>
                </a:solidFill>
              </a:rPr>
              <a:t>much more accessible</a:t>
            </a:r>
            <a:r>
              <a:rPr lang="es-CO" sz="1600" dirty="0">
                <a:solidFill>
                  <a:schemeClr val="accent5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It provides </a:t>
            </a:r>
            <a:r>
              <a:rPr lang="es-CO" sz="1600" b="1" dirty="0">
                <a:solidFill>
                  <a:schemeClr val="accent5"/>
                </a:solidFill>
              </a:rPr>
              <a:t>better</a:t>
            </a:r>
            <a:r>
              <a:rPr lang="es-CO" sz="1600" dirty="0">
                <a:solidFill>
                  <a:schemeClr val="accent5"/>
                </a:solidFill>
              </a:rPr>
              <a:t> tracking so learners </a:t>
            </a:r>
            <a:r>
              <a:rPr lang="es-CO" sz="1600" b="1" dirty="0">
                <a:solidFill>
                  <a:schemeClr val="accent5"/>
                </a:solidFill>
              </a:rPr>
              <a:t>can monitor</a:t>
            </a:r>
            <a:r>
              <a:rPr lang="es-CO" sz="1600" dirty="0">
                <a:solidFill>
                  <a:schemeClr val="accent5"/>
                </a:solidFill>
              </a:rPr>
              <a:t> their skills in real time.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DD5074-D573-8EE8-A163-7CAA8AE2E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1291" r="10102" b="8330"/>
          <a:stretch>
            <a:fillRect/>
          </a:stretch>
        </p:blipFill>
        <p:spPr>
          <a:xfrm>
            <a:off x="5078237" y="0"/>
            <a:ext cx="7113763" cy="705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6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6A463-55F9-7DA3-48F5-1065A034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1EE7E-8D1F-A7D6-8751-2FA75A7E894F}"/>
              </a:ext>
            </a:extLst>
          </p:cNvPr>
          <p:cNvSpPr txBox="1">
            <a:spLocks/>
          </p:cNvSpPr>
          <p:nvPr/>
        </p:nvSpPr>
        <p:spPr>
          <a:xfrm>
            <a:off x="695325" y="1618986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DEVELOPMENT PROCESS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B24E0-5A3A-8A73-1116-CABFE24785BE}"/>
              </a:ext>
            </a:extLst>
          </p:cNvPr>
          <p:cNvSpPr txBox="1"/>
          <p:nvPr/>
        </p:nvSpPr>
        <p:spPr>
          <a:xfrm>
            <a:off x="695325" y="2925385"/>
            <a:ext cx="3854368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First</a:t>
            </a:r>
            <a:r>
              <a:rPr lang="es-CO" sz="1600" dirty="0">
                <a:solidFill>
                  <a:schemeClr val="accent5"/>
                </a:solidFill>
              </a:rPr>
              <a:t>, we defined the core problem, objectives, and functionalities.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Then</a:t>
            </a:r>
            <a:r>
              <a:rPr lang="es-CO" sz="1600" dirty="0">
                <a:solidFill>
                  <a:schemeClr val="accent5"/>
                </a:solidFill>
              </a:rPr>
              <a:t>, tasks were organized using Agile (Scrum) and Kanban.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After that</a:t>
            </a:r>
            <a:r>
              <a:rPr lang="es-CO" sz="1600" dirty="0">
                <a:solidFill>
                  <a:schemeClr val="accent5"/>
                </a:solidFill>
              </a:rPr>
              <a:t>, the interface was designed in Figma and code was managed in GitHub.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Finally</a:t>
            </a:r>
            <a:r>
              <a:rPr lang="es-CO" sz="1600" dirty="0">
                <a:solidFill>
                  <a:schemeClr val="accent5"/>
                </a:solidFill>
              </a:rPr>
              <a:t>, the system was successfully developed and tested.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C33014-0E16-1E74-32CF-49C2C63A6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39240" y="3391271"/>
            <a:ext cx="498845" cy="49884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EFDA5E-2B4A-D4BA-DE66-A8A4EB0CB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852780" y="3425700"/>
            <a:ext cx="419558" cy="4261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68CFBF-356E-71E3-D99A-EBD197F8F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447855" y="3389359"/>
            <a:ext cx="498845" cy="4988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4679D3E-FA72-7423-8045-B9D92D4050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046637" y="3445520"/>
            <a:ext cx="498845" cy="3865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B0A2A1D-16F3-D673-DC0F-480979943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721501" y="3429000"/>
            <a:ext cx="419559" cy="41955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8594519-8C9C-8BE8-3A2A-C51011DD7D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317079" y="3425700"/>
            <a:ext cx="460853" cy="46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3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9A41D-2E4D-33EE-C058-CC04D991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961F-4521-9D62-601F-4AC929978A02}"/>
              </a:ext>
            </a:extLst>
          </p:cNvPr>
          <p:cNvSpPr txBox="1">
            <a:spLocks/>
          </p:cNvSpPr>
          <p:nvPr/>
        </p:nvSpPr>
        <p:spPr>
          <a:xfrm>
            <a:off x="695325" y="2076185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MAIN FEATURES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BFA70F-08D6-4568-7F65-12E5F8ACC20C}"/>
              </a:ext>
            </a:extLst>
          </p:cNvPr>
          <p:cNvSpPr txBox="1"/>
          <p:nvPr/>
        </p:nvSpPr>
        <p:spPr>
          <a:xfrm>
            <a:off x="695325" y="2897676"/>
            <a:ext cx="3854368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Our application allows users to achieve a </a:t>
            </a:r>
            <a:r>
              <a:rPr lang="es-CO" sz="1600" b="1" dirty="0">
                <a:solidFill>
                  <a:schemeClr val="accent5"/>
                </a:solidFill>
              </a:rPr>
              <a:t>better</a:t>
            </a:r>
            <a:r>
              <a:rPr lang="es-CO" sz="1600" dirty="0">
                <a:solidFill>
                  <a:schemeClr val="accent5"/>
                </a:solidFill>
              </a:rPr>
              <a:t> command of technical English through interactive challenges.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b="1" dirty="0">
                <a:solidFill>
                  <a:schemeClr val="accent5"/>
                </a:solidFill>
              </a:rPr>
              <a:t>One of the most useful features</a:t>
            </a:r>
            <a:r>
              <a:rPr lang="es-CO" sz="1600" dirty="0">
                <a:solidFill>
                  <a:schemeClr val="accent5"/>
                </a:solidFill>
              </a:rPr>
              <a:t> is real-time activity tracking.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It provides </a:t>
            </a:r>
            <a:r>
              <a:rPr lang="es-CO" sz="1600" b="1" dirty="0">
                <a:solidFill>
                  <a:schemeClr val="accent5"/>
                </a:solidFill>
              </a:rPr>
              <a:t>faster and more accurate</a:t>
            </a:r>
            <a:r>
              <a:rPr lang="es-CO" sz="1600" dirty="0">
                <a:solidFill>
                  <a:schemeClr val="accent5"/>
                </a:solidFill>
              </a:rPr>
              <a:t> progress monitoring than traditional methods.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99A4A7-CA22-0078-23F7-C7DDD9D57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1291" r="10102" b="8330"/>
          <a:stretch>
            <a:fillRect/>
          </a:stretch>
        </p:blipFill>
        <p:spPr>
          <a:xfrm>
            <a:off x="5078237" y="0"/>
            <a:ext cx="7113763" cy="705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9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0B824-93B1-9FD4-3B02-689D6FAC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2E1B9-A4E5-851F-B3AB-5F4DC274DE00}"/>
              </a:ext>
            </a:extLst>
          </p:cNvPr>
          <p:cNvSpPr txBox="1">
            <a:spLocks/>
          </p:cNvSpPr>
          <p:nvPr/>
        </p:nvSpPr>
        <p:spPr>
          <a:xfrm>
            <a:off x="695325" y="1882222"/>
            <a:ext cx="3854368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APPLIED TECHNOLOGIES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1FECDE-8A55-7431-9FE4-E4D8BF526B6B}"/>
              </a:ext>
            </a:extLst>
          </p:cNvPr>
          <p:cNvSpPr txBox="1"/>
          <p:nvPr/>
        </p:nvSpPr>
        <p:spPr>
          <a:xfrm>
            <a:off x="695325" y="3105495"/>
            <a:ext cx="3854368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We </a:t>
            </a:r>
            <a:r>
              <a:rPr lang="es-CO" sz="1600" b="1" dirty="0">
                <a:solidFill>
                  <a:schemeClr val="accent5"/>
                </a:solidFill>
              </a:rPr>
              <a:t>have implemented</a:t>
            </a:r>
            <a:r>
              <a:rPr lang="es-CO" sz="1600" dirty="0">
                <a:solidFill>
                  <a:schemeClr val="accent5"/>
                </a:solidFill>
              </a:rPr>
              <a:t> HTML5, CSS3, TypeScript, JavaScript, and Tailwind CSS for responsive frontends.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We </a:t>
            </a:r>
            <a:r>
              <a:rPr lang="es-CO" sz="1600" b="1" dirty="0">
                <a:solidFill>
                  <a:schemeClr val="accent5"/>
                </a:solidFill>
              </a:rPr>
              <a:t>have integrated</a:t>
            </a:r>
            <a:r>
              <a:rPr lang="es-CO" sz="1600" dirty="0">
                <a:solidFill>
                  <a:schemeClr val="accent5"/>
                </a:solidFill>
              </a:rPr>
              <a:t> Python and SQL databases for secure backend management.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accent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5"/>
                </a:solidFill>
              </a:rPr>
              <a:t>We </a:t>
            </a:r>
            <a:r>
              <a:rPr lang="es-CO" sz="1600" b="1" dirty="0">
                <a:solidFill>
                  <a:schemeClr val="accent5"/>
                </a:solidFill>
              </a:rPr>
              <a:t>have used</a:t>
            </a:r>
            <a:r>
              <a:rPr lang="es-CO" sz="1600" dirty="0">
                <a:solidFill>
                  <a:schemeClr val="accent5"/>
                </a:solidFill>
              </a:rPr>
              <a:t> Figma for UI design and GitHub for version control.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196DB3-BAC0-8A5D-C454-C7ABAF47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1291" r="10102" b="8330"/>
          <a:stretch>
            <a:fillRect/>
          </a:stretch>
        </p:blipFill>
        <p:spPr>
          <a:xfrm>
            <a:off x="5078237" y="0"/>
            <a:ext cx="7113763" cy="705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4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D5B4E-FDF2-D521-DC12-87ACAFD6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65F09-5CAF-B9DE-6042-D40E564EBEE7}"/>
              </a:ext>
            </a:extLst>
          </p:cNvPr>
          <p:cNvSpPr txBox="1">
            <a:spLocks/>
          </p:cNvSpPr>
          <p:nvPr/>
        </p:nvSpPr>
        <p:spPr>
          <a:xfrm>
            <a:off x="2883044" y="843131"/>
            <a:ext cx="6425911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s-CO" sz="3600" b="1" dirty="0">
                <a:latin typeface="WORK SANS BOLD ROMAN"/>
              </a:rPr>
              <a:t>SENALINGUA: SYSTEM INTERFACE AND VISUAL DEMO</a:t>
            </a:r>
            <a:endParaRPr lang="es-CO" sz="3600" dirty="0">
              <a:latin typeface="WORK SANS BOLD ROMAN"/>
            </a:endParaRPr>
          </a:p>
        </p:txBody>
      </p:sp>
      <p:pic>
        <p:nvPicPr>
          <p:cNvPr id="5" name="WhatsApp Video 2026-09-15 at 10.22.54 AM">
            <a:hlinkClick r:id="" action="ppaction://media"/>
            <a:extLst>
              <a:ext uri="{FF2B5EF4-FFF2-40B4-BE49-F238E27FC236}">
                <a16:creationId xmlns:a16="http://schemas.microsoft.com/office/drawing/2014/main" id="{3FDAAD87-12BA-F2D3-E9AD-B6F6162E5E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53166" y="2048933"/>
            <a:ext cx="8085668" cy="433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6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0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C2401-9CB7-FD89-8019-722A3F20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B199F-A899-6226-CE90-F2B4719DE105}"/>
              </a:ext>
            </a:extLst>
          </p:cNvPr>
          <p:cNvSpPr txBox="1">
            <a:spLocks/>
          </p:cNvSpPr>
          <p:nvPr/>
        </p:nvSpPr>
        <p:spPr>
          <a:xfrm>
            <a:off x="2883044" y="1717976"/>
            <a:ext cx="6425911" cy="97181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s-CO" sz="8000" b="1" dirty="0">
                <a:latin typeface="WORK SANS BOLD ROMAN"/>
              </a:rPr>
              <a:t>CONCLUSION</a:t>
            </a:r>
            <a:endParaRPr lang="es-CO" sz="8000" dirty="0">
              <a:latin typeface="WORK SANS BOLD ROMAN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4DE5E1-9014-E05D-C2E5-AA64C0C0C0A6}"/>
              </a:ext>
            </a:extLst>
          </p:cNvPr>
          <p:cNvSpPr txBox="1"/>
          <p:nvPr/>
        </p:nvSpPr>
        <p:spPr>
          <a:xfrm>
            <a:off x="1629206" y="3145956"/>
            <a:ext cx="8933585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/>
            <a:r>
              <a:rPr lang="es-CO" sz="4000" dirty="0">
                <a:solidFill>
                  <a:schemeClr val="accent5">
                    <a:lumMod val="95000"/>
                    <a:lumOff val="5000"/>
                  </a:schemeClr>
                </a:solidFill>
              </a:rPr>
              <a:t>SENALingua equips SENA developers for global tech</a:t>
            </a:r>
          </a:p>
        </p:txBody>
      </p:sp>
    </p:spTree>
    <p:extLst>
      <p:ext uri="{BB962C8B-B14F-4D97-AF65-F5344CB8AC3E}">
        <p14:creationId xmlns:p14="http://schemas.microsoft.com/office/powerpoint/2010/main" val="113110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8973D-FE84-0392-2293-D4EEB1F2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E7791-086A-F942-EA1E-81129BB697E6}"/>
              </a:ext>
            </a:extLst>
          </p:cNvPr>
          <p:cNvSpPr txBox="1">
            <a:spLocks/>
          </p:cNvSpPr>
          <p:nvPr/>
        </p:nvSpPr>
        <p:spPr>
          <a:xfrm>
            <a:off x="2883044" y="2471040"/>
            <a:ext cx="6425911" cy="95796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s-CO" sz="6000" b="1" dirty="0">
                <a:latin typeface="WORK SANS BOLD ROMAN"/>
              </a:rPr>
              <a:t>THANK YOU FOR YOUR TIME  </a:t>
            </a:r>
            <a:endParaRPr lang="es-CO" sz="6000" dirty="0">
              <a:latin typeface="WORK SANS BOLD ROMAN"/>
            </a:endParaRPr>
          </a:p>
        </p:txBody>
      </p:sp>
    </p:spTree>
    <p:extLst>
      <p:ext uri="{BB962C8B-B14F-4D97-AF65-F5344CB8AC3E}">
        <p14:creationId xmlns:p14="http://schemas.microsoft.com/office/powerpoint/2010/main" val="84895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4215</TotalTime>
  <Words>307</Words>
  <Application>Microsoft Office PowerPoint</Application>
  <PresentationFormat>Panorámica</PresentationFormat>
  <Paragraphs>49</Paragraphs>
  <Slides>10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WORK SANS BOLD ROMAN</vt:lpstr>
      <vt:lpstr>WORK SANS 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JOB SEGUNDO GONZALEZ GONZALEZ</cp:lastModifiedBy>
  <cp:revision>82</cp:revision>
  <dcterms:created xsi:type="dcterms:W3CDTF">2020-10-01T23:51:28Z</dcterms:created>
  <dcterms:modified xsi:type="dcterms:W3CDTF">2026-09-15T15:25:06Z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